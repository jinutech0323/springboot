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3" r:id="rId3"/>
    <p:sldId id="291" r:id="rId4"/>
    <p:sldId id="274" r:id="rId5"/>
    <p:sldId id="275" r:id="rId6"/>
    <p:sldId id="276" r:id="rId7"/>
    <p:sldId id="277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302" r:id="rId28"/>
    <p:sldId id="303" r:id="rId29"/>
    <p:sldId id="287" r:id="rId30"/>
    <p:sldId id="288" r:id="rId31"/>
    <p:sldId id="289" r:id="rId32"/>
    <p:sldId id="290" r:id="rId33"/>
    <p:sldId id="272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>
      <p:cViewPr varScale="1">
        <p:scale>
          <a:sx n="75" d="100"/>
          <a:sy n="75" d="100"/>
        </p:scale>
        <p:origin x="105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927" y="4750307"/>
            <a:ext cx="1894072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93" y="3115555"/>
            <a:ext cx="1725028" cy="4333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14631" y="216575"/>
            <a:ext cx="2099927" cy="52698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2893" y="3115555"/>
            <a:ext cx="1725028" cy="43337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12505" y="3115555"/>
            <a:ext cx="1725028" cy="43337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22305" y="3115555"/>
            <a:ext cx="1725028" cy="4333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2007672" cy="217660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41833" y="3115555"/>
            <a:ext cx="1725028" cy="4333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09084" y="2466594"/>
            <a:ext cx="359473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297668" y="4750307"/>
            <a:ext cx="1894331" cy="210769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023" y="3115055"/>
            <a:ext cx="1725168" cy="43433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14559" y="216408"/>
            <a:ext cx="2100072" cy="52730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82823" y="3115055"/>
            <a:ext cx="1725168" cy="43433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12435" y="3115055"/>
            <a:ext cx="1725167" cy="43433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22235" y="3115055"/>
            <a:ext cx="1725168" cy="4343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41764" y="3115055"/>
            <a:ext cx="1725168" cy="43433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2007108" cy="21762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443" y="720928"/>
            <a:ext cx="10383113" cy="882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635" y="1692529"/>
            <a:ext cx="10907395" cy="321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0600" y="2590800"/>
            <a:ext cx="96012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5400" dirty="0"/>
              <a:t>Introduction to Web Services</a:t>
            </a:r>
            <a:endParaRPr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AD8BA0-2CDE-DAFE-48C6-198ED701B206}"/>
              </a:ext>
            </a:extLst>
          </p:cNvPr>
          <p:cNvSpPr txBox="1"/>
          <p:nvPr/>
        </p:nvSpPr>
        <p:spPr>
          <a:xfrm>
            <a:off x="1066800" y="1371600"/>
            <a:ext cx="10591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are Web Services?</a:t>
            </a:r>
          </a:p>
          <a:p>
            <a:r>
              <a:rPr lang="en-US" dirty="0"/>
              <a:t>A </a:t>
            </a:r>
            <a:r>
              <a:rPr lang="en-US" b="1" dirty="0"/>
              <a:t>web service</a:t>
            </a:r>
            <a:r>
              <a:rPr lang="en-US" dirty="0"/>
              <a:t> is a software component present on a server that allows two applications to communicate over the internet using standard protocols.</a:t>
            </a:r>
          </a:p>
          <a:p>
            <a:r>
              <a:rPr lang="en-US" dirty="0"/>
              <a:t>👉 In simple words:</a:t>
            </a:r>
            <a:br>
              <a:rPr lang="en-US" dirty="0"/>
            </a:br>
            <a:r>
              <a:rPr lang="en-US" b="1" dirty="0"/>
              <a:t>A web service helps one application talk to another application.</a:t>
            </a:r>
            <a:endParaRPr lang="en-US" dirty="0"/>
          </a:p>
          <a:p>
            <a:r>
              <a:rPr lang="en-US" b="1" dirty="0"/>
              <a:t>Why Web Services?</a:t>
            </a:r>
          </a:p>
          <a:p>
            <a:r>
              <a:rPr lang="en-US" dirty="0"/>
              <a:t>Applications are built in different languages</a:t>
            </a:r>
            <a:br>
              <a:rPr lang="en-US" dirty="0"/>
            </a:br>
            <a:r>
              <a:rPr lang="en-US" dirty="0"/>
              <a:t>(Java app + .NET app + Python app)</a:t>
            </a:r>
          </a:p>
          <a:p>
            <a:r>
              <a:rPr lang="en-US" dirty="0"/>
              <a:t>They still need to communicate</a:t>
            </a:r>
          </a:p>
          <a:p>
            <a:r>
              <a:rPr lang="en-US" dirty="0"/>
              <a:t>Web service works as a </a:t>
            </a:r>
            <a:r>
              <a:rPr lang="en-US" b="1" dirty="0"/>
              <a:t>common language</a:t>
            </a:r>
            <a:r>
              <a:rPr lang="en-US" dirty="0"/>
              <a:t> between them</a:t>
            </a:r>
          </a:p>
        </p:txBody>
      </p:sp>
    </p:spTree>
    <p:extLst>
      <p:ext uri="{BB962C8B-B14F-4D97-AF65-F5344CB8AC3E}">
        <p14:creationId xmlns:p14="http://schemas.microsoft.com/office/powerpoint/2010/main" val="2072321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0F2154-ABB0-A149-0918-585097FEA54C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web service exposes a set of </a:t>
            </a:r>
            <a:r>
              <a:rPr lang="en-IN" b="1" dirty="0"/>
              <a:t>URLs</a:t>
            </a:r>
            <a:r>
              <a:rPr lang="en-IN" dirty="0"/>
              <a:t> called </a:t>
            </a:r>
            <a:r>
              <a:rPr lang="en-IN" b="1" dirty="0"/>
              <a:t>APIs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Client applications call these URLs and get data back.</a:t>
            </a:r>
          </a:p>
          <a:p>
            <a:pPr>
              <a:buNone/>
            </a:pPr>
            <a:r>
              <a:rPr lang="en-IN" b="1" dirty="0"/>
              <a:t>Realistic Example</a:t>
            </a:r>
          </a:p>
          <a:p>
            <a:pPr>
              <a:buNone/>
            </a:pPr>
            <a:r>
              <a:rPr lang="en-IN" b="1" dirty="0"/>
              <a:t>Swiggy Data Flow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Swiggy App → Calls API: </a:t>
            </a:r>
            <a:r>
              <a:rPr lang="en-IN" dirty="0">
                <a:latin typeface="Courier New" panose="02070309020205020404" pitchFamily="49" charset="0"/>
              </a:rPr>
              <a:t>/</a:t>
            </a:r>
            <a:r>
              <a:rPr lang="en-IN" dirty="0" err="1">
                <a:latin typeface="Courier New" panose="02070309020205020404" pitchFamily="49" charset="0"/>
              </a:rPr>
              <a:t>getRestaurants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Server returns JSON list of restaurants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 displays it to user</a:t>
            </a:r>
          </a:p>
          <a:p>
            <a:pPr>
              <a:buNone/>
            </a:pPr>
            <a:r>
              <a:rPr lang="en-IN" dirty="0"/>
              <a:t>Behind the scenes: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 app (Flutter/React Native)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Server (Java / Node.js / Python)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(MySQL / MongoDB)</a:t>
            </a:r>
          </a:p>
          <a:p>
            <a:pPr>
              <a:buNone/>
            </a:pPr>
            <a:r>
              <a:rPr lang="en-IN" dirty="0"/>
              <a:t>They all communicate via </a:t>
            </a:r>
            <a:r>
              <a:rPr lang="en-IN" b="1" dirty="0"/>
              <a:t>web services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0738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B859FF-9C7E-82D2-11E0-2EE3516CFB58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Web Services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SOAP Web Services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Uses XML only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Strict, secure, enterprise-style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REST Web Services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Uses HTTP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JSON, XML, Text, HTML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Lightweight &amp; widely used</a:t>
            </a:r>
          </a:p>
        </p:txBody>
      </p:sp>
    </p:spTree>
    <p:extLst>
      <p:ext uri="{BB962C8B-B14F-4D97-AF65-F5344CB8AC3E}">
        <p14:creationId xmlns:p14="http://schemas.microsoft.com/office/powerpoint/2010/main" val="160004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3D761-09F0-F62C-852A-A308DA997C6E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Realistic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you order food from </a:t>
            </a:r>
            <a:r>
              <a:rPr lang="en-US" b="1" dirty="0"/>
              <a:t>Swiggy</a:t>
            </a:r>
            <a:r>
              <a:rPr lang="en-US" dirty="0"/>
              <a:t>, your app calls REST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“Get Restaurants”, “Get Menu”, “Place Order” — all are web services.</a:t>
            </a:r>
          </a:p>
        </p:txBody>
      </p:sp>
    </p:spTree>
    <p:extLst>
      <p:ext uri="{BB962C8B-B14F-4D97-AF65-F5344CB8AC3E}">
        <p14:creationId xmlns:p14="http://schemas.microsoft.com/office/powerpoint/2010/main" val="571255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616367-654F-9BCD-3CB3-935F8B81C226}"/>
              </a:ext>
            </a:extLst>
          </p:cNvPr>
          <p:cNvSpPr txBox="1"/>
          <p:nvPr/>
        </p:nvSpPr>
        <p:spPr>
          <a:xfrm>
            <a:off x="1371600" y="2007275"/>
            <a:ext cx="102108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Client</a:t>
            </a:r>
          </a:p>
          <a:p>
            <a:r>
              <a:rPr lang="en-IN" dirty="0"/>
              <a:t>Anything that sends a request:</a:t>
            </a:r>
          </a:p>
          <a:p>
            <a:r>
              <a:rPr lang="en-IN" dirty="0"/>
              <a:t>Browser (Chrome, Firefox)</a:t>
            </a:r>
          </a:p>
          <a:p>
            <a:r>
              <a:rPr lang="en-IN" dirty="0"/>
              <a:t>Mobile App</a:t>
            </a:r>
          </a:p>
          <a:p>
            <a:r>
              <a:rPr lang="en-IN" dirty="0"/>
              <a:t>Postman</a:t>
            </a:r>
          </a:p>
          <a:p>
            <a:r>
              <a:rPr lang="en-IN" dirty="0"/>
              <a:t>React/Angular frontend</a:t>
            </a:r>
          </a:p>
          <a:p>
            <a:r>
              <a:rPr lang="en-IN" b="1" dirty="0"/>
              <a:t>✔ Server</a:t>
            </a:r>
          </a:p>
          <a:p>
            <a:r>
              <a:rPr lang="en-IN" dirty="0"/>
              <a:t>Anything that receives the request &amp; sends back data:</a:t>
            </a:r>
          </a:p>
          <a:p>
            <a:r>
              <a:rPr lang="en-IN" dirty="0"/>
              <a:t>Java Spring Boot API</a:t>
            </a:r>
          </a:p>
          <a:p>
            <a:r>
              <a:rPr lang="en-IN" dirty="0"/>
              <a:t>Node.js Express backend</a:t>
            </a:r>
          </a:p>
          <a:p>
            <a:r>
              <a:rPr lang="en-IN" dirty="0"/>
              <a:t>Python Django/Flask service</a:t>
            </a:r>
          </a:p>
          <a:p>
            <a:r>
              <a:rPr lang="en-IN" dirty="0"/>
              <a:t>.NET Core API</a:t>
            </a:r>
          </a:p>
        </p:txBody>
      </p:sp>
    </p:spTree>
    <p:extLst>
      <p:ext uri="{BB962C8B-B14F-4D97-AF65-F5344CB8AC3E}">
        <p14:creationId xmlns:p14="http://schemas.microsoft.com/office/powerpoint/2010/main" val="403426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95EEC6-214F-3A9F-632F-5CE3D305C699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Flow</a:t>
            </a:r>
          </a:p>
          <a:p>
            <a:pPr>
              <a:buFont typeface="+mj-lt"/>
              <a:buAutoNum type="arabicPeriod"/>
            </a:pPr>
            <a:r>
              <a:rPr lang="en-US" dirty="0"/>
              <a:t>Client sends </a:t>
            </a:r>
            <a:r>
              <a:rPr lang="en-US" b="1" dirty="0"/>
              <a:t>request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Server processes it</a:t>
            </a:r>
          </a:p>
          <a:p>
            <a:pPr>
              <a:buFont typeface="+mj-lt"/>
              <a:buAutoNum type="arabicPeriod"/>
            </a:pPr>
            <a:r>
              <a:rPr lang="en-US" dirty="0"/>
              <a:t>Server returns </a:t>
            </a:r>
            <a:r>
              <a:rPr lang="en-US" b="1" dirty="0"/>
              <a:t>response</a:t>
            </a:r>
            <a:endParaRPr lang="en-US" dirty="0"/>
          </a:p>
          <a:p>
            <a:pPr>
              <a:buNone/>
            </a:pPr>
            <a:r>
              <a:rPr lang="en-US" b="1" dirty="0"/>
              <a:t>Realistic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Browser → Google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type “IPL score” → send request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Google returns response → result shown</a:t>
            </a:r>
          </a:p>
        </p:txBody>
      </p:sp>
    </p:spTree>
    <p:extLst>
      <p:ext uri="{BB962C8B-B14F-4D97-AF65-F5344CB8AC3E}">
        <p14:creationId xmlns:p14="http://schemas.microsoft.com/office/powerpoint/2010/main" val="94614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02B983-00A7-5AFA-215D-C23B304A8630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Client–Server Works (Step-by-Step)</a:t>
            </a:r>
          </a:p>
          <a:p>
            <a:pPr>
              <a:buNone/>
            </a:pPr>
            <a:r>
              <a:rPr lang="en-US" b="1" dirty="0"/>
              <a:t>Step 1 — Client sends a Request</a:t>
            </a:r>
          </a:p>
          <a:p>
            <a:pPr>
              <a:buNone/>
            </a:pPr>
            <a:r>
              <a:rPr lang="en-US" dirty="0"/>
              <a:t>Example Request (GET):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GET /students HTTP/1.1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Host: myschool.com</a:t>
            </a:r>
          </a:p>
        </p:txBody>
      </p:sp>
    </p:spTree>
    <p:extLst>
      <p:ext uri="{BB962C8B-B14F-4D97-AF65-F5344CB8AC3E}">
        <p14:creationId xmlns:p14="http://schemas.microsoft.com/office/powerpoint/2010/main" val="1276593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6609D-D121-71E2-91D6-B6CE23B31193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 2 — Server Processes</a:t>
            </a:r>
          </a:p>
          <a:p>
            <a:pPr>
              <a:buNone/>
            </a:pPr>
            <a:r>
              <a:rPr lang="en-IN" dirty="0"/>
              <a:t>Server checks: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URL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</a:t>
            </a:r>
          </a:p>
          <a:p>
            <a:pPr>
              <a:buNone/>
            </a:pPr>
            <a:r>
              <a:rPr lang="en-IN" b="1" dirty="0"/>
              <a:t>Step 3 — Server Sends Response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200 OK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"students": 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{"id": 1, "name": "John"},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{"id": 2, "name": "Anita"}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238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43A2A1-EE4B-BFC7-9D00-E370C7213666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Realistic Example: Amazon Product Page</a:t>
            </a:r>
          </a:p>
          <a:p>
            <a:pPr>
              <a:buNone/>
            </a:pPr>
            <a:r>
              <a:rPr lang="en-US" dirty="0"/>
              <a:t>Client → “Show me shampoo”</a:t>
            </a:r>
            <a:br>
              <a:rPr lang="en-US" dirty="0"/>
            </a:br>
            <a:r>
              <a:rPr lang="en-US" dirty="0"/>
              <a:t>Server → Finds products in database &amp; responds with JSON</a:t>
            </a:r>
          </a:p>
          <a:p>
            <a:pPr>
              <a:buNone/>
            </a:pPr>
            <a:r>
              <a:rPr lang="en-US" dirty="0"/>
              <a:t>Your browser formats the data into a UI.</a:t>
            </a:r>
          </a:p>
        </p:txBody>
      </p:sp>
    </p:spTree>
    <p:extLst>
      <p:ext uri="{BB962C8B-B14F-4D97-AF65-F5344CB8AC3E}">
        <p14:creationId xmlns:p14="http://schemas.microsoft.com/office/powerpoint/2010/main" val="2778416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D14832-4A98-8743-B2F4-15ABD96087B4}"/>
              </a:ext>
            </a:extLst>
          </p:cNvPr>
          <p:cNvSpPr txBox="1"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HTTP Protocol – Deep Explanation</a:t>
            </a:r>
          </a:p>
          <a:p>
            <a:pPr>
              <a:buNone/>
            </a:pPr>
            <a:r>
              <a:rPr lang="en-IN" dirty="0"/>
              <a:t>HTTP = </a:t>
            </a:r>
            <a:r>
              <a:rPr lang="en-IN" b="1" dirty="0"/>
              <a:t>Hypertext Transfer Protocol</a:t>
            </a:r>
            <a:br>
              <a:rPr lang="en-IN" dirty="0"/>
            </a:br>
            <a:r>
              <a:rPr lang="en-IN" dirty="0"/>
              <a:t>A set of rules for communication on the internet.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📌 HTTP Methods (Full Meaning)</a:t>
            </a:r>
          </a:p>
          <a:p>
            <a:pPr>
              <a:buNone/>
            </a:pPr>
            <a:r>
              <a:rPr lang="en-IN" b="1" dirty="0"/>
              <a:t>1️⃣ GET – Read Data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GET /products</a:t>
            </a:r>
          </a:p>
          <a:p>
            <a:pPr>
              <a:buNone/>
            </a:pPr>
            <a:r>
              <a:rPr lang="en-IN" dirty="0"/>
              <a:t>Used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Searching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Viewing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Getting dashboard data</a:t>
            </a:r>
          </a:p>
        </p:txBody>
      </p:sp>
    </p:spTree>
    <p:extLst>
      <p:ext uri="{BB962C8B-B14F-4D97-AF65-F5344CB8AC3E}">
        <p14:creationId xmlns:p14="http://schemas.microsoft.com/office/powerpoint/2010/main" val="3285667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DD0208-E553-28BA-6738-7E50BDEA3F1C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POST – Insert Data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POST /register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"name": "Arjun",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"email": "arjun@gmail.com"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/>
              <a:t>Used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Creating account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Adding order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processing</a:t>
            </a:r>
          </a:p>
        </p:txBody>
      </p:sp>
    </p:spTree>
    <p:extLst>
      <p:ext uri="{BB962C8B-B14F-4D97-AF65-F5344CB8AC3E}">
        <p14:creationId xmlns:p14="http://schemas.microsoft.com/office/powerpoint/2010/main" val="1834890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E19596-C494-3E67-7206-13B3407460DF}"/>
              </a:ext>
            </a:extLst>
          </p:cNvPr>
          <p:cNvSpPr txBox="1"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PUT – Full Update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PUT /users/10</a:t>
            </a:r>
          </a:p>
          <a:p>
            <a:pPr>
              <a:buNone/>
            </a:pPr>
            <a:r>
              <a:rPr lang="en-US" dirty="0"/>
              <a:t>Used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Editing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Changing entire object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4️⃣ PATCH – Partial Update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PATCH /users/10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"email": "newmail@gmail.com"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5911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EB1498-A714-37B4-B3CD-8E19481D8C80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DELETE – Remove Data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DELETE /cart/5</a:t>
            </a:r>
          </a:p>
        </p:txBody>
      </p:sp>
    </p:spTree>
    <p:extLst>
      <p:ext uri="{BB962C8B-B14F-4D97-AF65-F5344CB8AC3E}">
        <p14:creationId xmlns:p14="http://schemas.microsoft.com/office/powerpoint/2010/main" val="1164548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9F08FB-2747-A5EF-908B-C5228798FD05}"/>
              </a:ext>
            </a:extLst>
          </p:cNvPr>
          <p:cNvSpPr txBox="1"/>
          <p:nvPr/>
        </p:nvSpPr>
        <p:spPr>
          <a:xfrm>
            <a:off x="3048000" y="1305342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HTTP Request – Detailed Structure</a:t>
            </a:r>
          </a:p>
          <a:p>
            <a:pPr>
              <a:buNone/>
            </a:pPr>
            <a:r>
              <a:rPr lang="en-IN" b="1" dirty="0"/>
              <a:t>Request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POST /login HTTP/1.1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Host: myapi.com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Content-Type: application/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Authorization: Bearer abcd1234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"email": "jinu@gmail.com",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"password": "12345"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b="1" dirty="0"/>
              <a:t>Important Parts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Request Line</a:t>
            </a:r>
            <a:r>
              <a:rPr lang="en-IN" dirty="0"/>
              <a:t> → </a:t>
            </a:r>
            <a:r>
              <a:rPr lang="en-IN" dirty="0">
                <a:latin typeface="Courier New" panose="02070309020205020404" pitchFamily="49" charset="0"/>
              </a:rPr>
              <a:t>POST /login HTTP/1.1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Headers</a:t>
            </a:r>
            <a:r>
              <a:rPr lang="en-IN" dirty="0"/>
              <a:t> → </a:t>
            </a:r>
            <a:r>
              <a:rPr lang="en-IN" dirty="0">
                <a:latin typeface="Courier New" panose="02070309020205020404" pitchFamily="49" charset="0"/>
              </a:rPr>
              <a:t>Content-Type</a:t>
            </a:r>
            <a:r>
              <a:rPr lang="en-IN" dirty="0"/>
              <a:t>, </a:t>
            </a:r>
            <a:r>
              <a:rPr lang="en-IN" dirty="0">
                <a:latin typeface="Courier New" panose="02070309020205020404" pitchFamily="49" charset="0"/>
              </a:rPr>
              <a:t>Authorization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b="1" dirty="0"/>
              <a:t>Body</a:t>
            </a:r>
            <a:r>
              <a:rPr lang="en-IN" dirty="0"/>
              <a:t> → JSON Data</a:t>
            </a:r>
          </a:p>
        </p:txBody>
      </p:sp>
    </p:spTree>
    <p:extLst>
      <p:ext uri="{BB962C8B-B14F-4D97-AF65-F5344CB8AC3E}">
        <p14:creationId xmlns:p14="http://schemas.microsoft.com/office/powerpoint/2010/main" val="3279022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ED8A1D-D2B7-D8EF-BBB0-A087C1317BE6}"/>
              </a:ext>
            </a:extLst>
          </p:cNvPr>
          <p:cNvSpPr txBox="1"/>
          <p:nvPr/>
        </p:nvSpPr>
        <p:spPr>
          <a:xfrm>
            <a:off x="3048000" y="1166843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JSON – In Depth Concept</a:t>
            </a:r>
          </a:p>
          <a:p>
            <a:pPr>
              <a:buNone/>
            </a:pPr>
            <a:r>
              <a:rPr lang="en-IN" b="1" dirty="0"/>
              <a:t>JSON = JavaScript Object Notation</a:t>
            </a:r>
          </a:p>
          <a:p>
            <a:pPr>
              <a:buNone/>
            </a:pPr>
            <a:r>
              <a:rPr lang="en-IN" dirty="0"/>
              <a:t>Used widely in mobile apps, web apps, cloud applications.</a:t>
            </a:r>
          </a:p>
          <a:p>
            <a:pPr>
              <a:buNone/>
            </a:pPr>
            <a:r>
              <a:rPr lang="en-IN" b="1" dirty="0"/>
              <a:t>✔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Lightweight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to read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 objects &amp; arrays</a:t>
            </a:r>
          </a:p>
          <a:p>
            <a:pPr>
              <a:buNone/>
            </a:pPr>
            <a:r>
              <a:rPr lang="en-IN" b="1" dirty="0"/>
              <a:t>JSON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"id": 101,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"name": "Arjun",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"skills": ["Java", "React", "SQL"],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"salary": 45000,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"active": true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0093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09D98D-0036-B57A-81B1-1CD57E1F0683}"/>
              </a:ext>
            </a:extLst>
          </p:cNvPr>
          <p:cNvSpPr txBox="1"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Realistic Example (Uber App)</a:t>
            </a:r>
          </a:p>
          <a:p>
            <a:pPr>
              <a:buNone/>
            </a:pPr>
            <a:r>
              <a:rPr lang="en-US" dirty="0"/>
              <a:t>Uber API sends: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"driver": "Ravi",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"car": "Swift",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"</a:t>
            </a:r>
            <a:r>
              <a:rPr lang="en-US" dirty="0" err="1">
                <a:latin typeface="Courier New" panose="02070309020205020404" pitchFamily="49" charset="0"/>
              </a:rPr>
              <a:t>arrivalTime</a:t>
            </a:r>
            <a:r>
              <a:rPr lang="en-US" dirty="0">
                <a:latin typeface="Courier New" panose="02070309020205020404" pitchFamily="49" charset="0"/>
              </a:rPr>
              <a:t>": 3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/>
              <a:t>Mobile app uses this JSON to show: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driver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arrival time</a:t>
            </a:r>
          </a:p>
        </p:txBody>
      </p:sp>
    </p:spTree>
    <p:extLst>
      <p:ext uri="{BB962C8B-B14F-4D97-AF65-F5344CB8AC3E}">
        <p14:creationId xmlns:p14="http://schemas.microsoft.com/office/powerpoint/2010/main" val="372499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EC6D2-303F-B9D7-C620-063FD5983C1D}"/>
              </a:ext>
            </a:extLst>
          </p:cNvPr>
          <p:cNvSpPr txBox="1"/>
          <p:nvPr/>
        </p:nvSpPr>
        <p:spPr>
          <a:xfrm>
            <a:off x="2514600" y="10668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HTTP (Hypertext Transfer Protocol)</a:t>
            </a:r>
          </a:p>
          <a:p>
            <a:pPr>
              <a:buNone/>
            </a:pPr>
            <a:r>
              <a:rPr lang="en-US" dirty="0"/>
              <a:t>Rules for communication between client &amp; server.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03F2B7-2653-008A-5F4D-4096A1711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312690"/>
              </p:ext>
            </p:extLst>
          </p:nvPr>
        </p:nvGraphicFramePr>
        <p:xfrm>
          <a:off x="838200" y="3429000"/>
          <a:ext cx="10907712" cy="1828800"/>
        </p:xfrm>
        <a:graphic>
          <a:graphicData uri="http://schemas.openxmlformats.org/drawingml/2006/table">
            <a:tbl>
              <a:tblPr/>
              <a:tblGrid>
                <a:gridCol w="3635904">
                  <a:extLst>
                    <a:ext uri="{9D8B030D-6E8A-4147-A177-3AD203B41FA5}">
                      <a16:colId xmlns:a16="http://schemas.microsoft.com/office/drawing/2014/main" val="1346403559"/>
                    </a:ext>
                  </a:extLst>
                </a:gridCol>
                <a:gridCol w="3635904">
                  <a:extLst>
                    <a:ext uri="{9D8B030D-6E8A-4147-A177-3AD203B41FA5}">
                      <a16:colId xmlns:a16="http://schemas.microsoft.com/office/drawing/2014/main" val="1282183270"/>
                    </a:ext>
                  </a:extLst>
                </a:gridCol>
                <a:gridCol w="3635904">
                  <a:extLst>
                    <a:ext uri="{9D8B030D-6E8A-4147-A177-3AD203B41FA5}">
                      <a16:colId xmlns:a16="http://schemas.microsoft.com/office/drawing/2014/main" val="2114963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78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 list of students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216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new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98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profile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72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 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7556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CA98C4F-55C4-9E57-26DF-1E085F985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68457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HTTP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362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980D5E-D60C-7B4A-14F8-B42A0B8FC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876947"/>
              </p:ext>
            </p:extLst>
          </p:nvPr>
        </p:nvGraphicFramePr>
        <p:xfrm>
          <a:off x="915988" y="2474913"/>
          <a:ext cx="10907712" cy="2560320"/>
        </p:xfrm>
        <a:graphic>
          <a:graphicData uri="http://schemas.openxmlformats.org/drawingml/2006/table">
            <a:tbl>
              <a:tblPr/>
              <a:tblGrid>
                <a:gridCol w="5453856">
                  <a:extLst>
                    <a:ext uri="{9D8B030D-6E8A-4147-A177-3AD203B41FA5}">
                      <a16:colId xmlns:a16="http://schemas.microsoft.com/office/drawing/2014/main" val="1423810085"/>
                    </a:ext>
                  </a:extLst>
                </a:gridCol>
                <a:gridCol w="5453856">
                  <a:extLst>
                    <a:ext uri="{9D8B030D-6E8A-4147-A177-3AD203B41FA5}">
                      <a16:colId xmlns:a16="http://schemas.microsoft.com/office/drawing/2014/main" val="42772400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164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24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731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Bad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65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Unauthorized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83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Found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3531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Server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33921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6A2BEED-A69A-5CA9-8CAA-FFADEB24C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20177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HTTP Status Codes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283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BF7C9-7D42-C053-0FCD-A4AB4A003818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Realistic Example</a:t>
            </a:r>
          </a:p>
          <a:p>
            <a:pPr>
              <a:buNone/>
            </a:pPr>
            <a:r>
              <a:rPr lang="en-US" dirty="0"/>
              <a:t>If your mobile app tries to fetch details of a deleted product → </a:t>
            </a:r>
            <a:r>
              <a:rPr lang="en-US" b="1" dirty="0"/>
              <a:t>404 Not Found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5119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6C8B3-6935-B724-0F9E-85DACB903645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Deep Dive: HTTP Request &amp; Response</a:t>
            </a:r>
          </a:p>
          <a:p>
            <a:pPr>
              <a:buNone/>
            </a:pPr>
            <a:r>
              <a:rPr lang="en-IN" b="1" dirty="0"/>
              <a:t>HTTP Request Format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POST /login HTTP/1.1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Host: myapp.com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Content-Type: application/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"email": "user@example.com",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"password": "12345"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1154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7D0DD5-7D83-D0E0-519A-5545301578C0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HTTP Response Format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HTTP/1.1 200 OK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Content-Type: application/</a:t>
            </a:r>
            <a:r>
              <a:rPr lang="en-IN" dirty="0" err="1">
                <a:latin typeface="Courier New" panose="02070309020205020404" pitchFamily="49" charset="0"/>
              </a:rPr>
              <a:t>json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"message": "Login successful",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"token": "ABCD1234"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8854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DF5D5-CD40-11D9-CD2D-256BCE49ABA8}"/>
              </a:ext>
            </a:extLst>
          </p:cNvPr>
          <p:cNvSpPr txBox="1"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Headers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Content-Type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Authorization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User-Agent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Cache-Control</a:t>
            </a:r>
          </a:p>
          <a:p>
            <a:pPr>
              <a:buNone/>
            </a:pPr>
            <a:r>
              <a:rPr lang="en-US" b="1" dirty="0"/>
              <a:t>Realistic Example</a:t>
            </a:r>
          </a:p>
          <a:p>
            <a:pPr>
              <a:buNone/>
            </a:pPr>
            <a:r>
              <a:rPr lang="en-US" dirty="0"/>
              <a:t>Mobile app sending JWT token to access user profile.</a:t>
            </a:r>
          </a:p>
        </p:txBody>
      </p:sp>
    </p:spTree>
    <p:extLst>
      <p:ext uri="{BB962C8B-B14F-4D97-AF65-F5344CB8AC3E}">
        <p14:creationId xmlns:p14="http://schemas.microsoft.com/office/powerpoint/2010/main" val="1137218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E43D48-9D8D-BB03-F95B-BCF340A94F56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JSON Explained</a:t>
            </a:r>
          </a:p>
          <a:p>
            <a:pPr>
              <a:buNone/>
            </a:pPr>
            <a:r>
              <a:rPr lang="en-IN" b="1" dirty="0"/>
              <a:t>JSON (JavaScript Object Notation)</a:t>
            </a:r>
          </a:p>
          <a:p>
            <a:pPr>
              <a:buNone/>
            </a:pPr>
            <a:r>
              <a:rPr lang="en-IN" dirty="0"/>
              <a:t>Lightweight data format, easy to read.</a:t>
            </a:r>
          </a:p>
          <a:p>
            <a:pPr>
              <a:buNone/>
            </a:pPr>
            <a:r>
              <a:rPr lang="en-IN" b="1" dirty="0"/>
              <a:t>JSON Syntax 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"id": 1,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"name": "Arjun",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"skills": ["Java", "Spring", "SQL"],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"active": true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63170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43BBF7-8A9C-522F-41FD-E6802089494C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JSON is Popular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for humans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for machines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perfectly with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Lightweight</a:t>
            </a:r>
          </a:p>
          <a:p>
            <a:pPr>
              <a:buNone/>
            </a:pPr>
            <a:r>
              <a:rPr lang="en-US" b="1" dirty="0"/>
              <a:t>Realistic Example</a:t>
            </a:r>
          </a:p>
          <a:p>
            <a:pPr>
              <a:buNone/>
            </a:pPr>
            <a:r>
              <a:rPr lang="en-US" dirty="0"/>
              <a:t>Every mobile app uses JSON — WhatsApp, Facebook, Amazon, Banking apps.</a:t>
            </a:r>
          </a:p>
        </p:txBody>
      </p:sp>
    </p:spTree>
    <p:extLst>
      <p:ext uri="{BB962C8B-B14F-4D97-AF65-F5344CB8AC3E}">
        <p14:creationId xmlns:p14="http://schemas.microsoft.com/office/powerpoint/2010/main" val="3765057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4CEB59-B089-8F83-003A-863CCE07D652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XML Explained</a:t>
            </a:r>
          </a:p>
          <a:p>
            <a:pPr>
              <a:buNone/>
            </a:pPr>
            <a:r>
              <a:rPr lang="en-US" b="1" dirty="0"/>
              <a:t>XML (Extensible Markup Language)</a:t>
            </a:r>
          </a:p>
          <a:p>
            <a:pPr>
              <a:buNone/>
            </a:pPr>
            <a:r>
              <a:rPr lang="en-US" dirty="0"/>
              <a:t>Used in older systems, very structured.</a:t>
            </a:r>
          </a:p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&lt;Employee&gt;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&lt;Id&gt;1&lt;/Id&gt;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&lt;Name&gt;Arjun&lt;/Name&gt;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&lt;Salary&gt;45000&lt;/Salary&gt;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&lt;/Employee&gt;</a:t>
            </a:r>
          </a:p>
        </p:txBody>
      </p:sp>
    </p:spTree>
    <p:extLst>
      <p:ext uri="{BB962C8B-B14F-4D97-AF65-F5344CB8AC3E}">
        <p14:creationId xmlns:p14="http://schemas.microsoft.com/office/powerpoint/2010/main" val="332816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178BF3-3CA3-245C-164D-900BD58215A9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XML – In Depth Concept</a:t>
            </a:r>
          </a:p>
          <a:p>
            <a:pPr>
              <a:buNone/>
            </a:pPr>
            <a:r>
              <a:rPr lang="en-US" b="1" dirty="0"/>
              <a:t>XML = Extensible Markup Language</a:t>
            </a:r>
          </a:p>
          <a:p>
            <a:pPr>
              <a:buNone/>
            </a:pPr>
            <a:r>
              <a:rPr lang="en-US" dirty="0"/>
              <a:t>Mostly used in enterprise &amp; government systems.</a:t>
            </a:r>
          </a:p>
          <a:p>
            <a:pPr>
              <a:buNone/>
            </a:pPr>
            <a:r>
              <a:rPr lang="en-US" b="1" dirty="0"/>
              <a:t>XML Example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&lt;Employee&gt;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&lt;Id&gt;101&lt;/Id&gt;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&lt;Name&gt;Arjun&lt;/Name&gt;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&lt;Salary&gt;45000&lt;/Salary&gt;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    &lt;Active&gt;true&lt;/Active&gt;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&lt;/Employee&gt;</a:t>
            </a:r>
          </a:p>
        </p:txBody>
      </p:sp>
    </p:spTree>
    <p:extLst>
      <p:ext uri="{BB962C8B-B14F-4D97-AF65-F5344CB8AC3E}">
        <p14:creationId xmlns:p14="http://schemas.microsoft.com/office/powerpoint/2010/main" val="3394066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832833-B630-C1F8-1875-B0B8BCC948BF}"/>
              </a:ext>
            </a:extLst>
          </p:cNvPr>
          <p:cNvGraphicFramePr>
            <a:graphicFrameLocks noGrp="1"/>
          </p:cNvGraphicFramePr>
          <p:nvPr/>
        </p:nvGraphicFramePr>
        <p:xfrm>
          <a:off x="915988" y="2017871"/>
          <a:ext cx="10907712" cy="2560320"/>
        </p:xfrm>
        <a:graphic>
          <a:graphicData uri="http://schemas.openxmlformats.org/drawingml/2006/table">
            <a:tbl>
              <a:tblPr/>
              <a:tblGrid>
                <a:gridCol w="3635904">
                  <a:extLst>
                    <a:ext uri="{9D8B030D-6E8A-4147-A177-3AD203B41FA5}">
                      <a16:colId xmlns:a16="http://schemas.microsoft.com/office/drawing/2014/main" val="3946030222"/>
                    </a:ext>
                  </a:extLst>
                </a:gridCol>
                <a:gridCol w="3635904">
                  <a:extLst>
                    <a:ext uri="{9D8B030D-6E8A-4147-A177-3AD203B41FA5}">
                      <a16:colId xmlns:a16="http://schemas.microsoft.com/office/drawing/2014/main" val="2946902202"/>
                    </a:ext>
                  </a:extLst>
                </a:gridCol>
                <a:gridCol w="3635904">
                  <a:extLst>
                    <a:ext uri="{9D8B030D-6E8A-4147-A177-3AD203B41FA5}">
                      <a16:colId xmlns:a16="http://schemas.microsoft.com/office/drawing/2014/main" val="261673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12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Format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{}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&lt;tags&gt;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142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81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247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49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SOAP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635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291358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1F10F49-0CC6-FBBC-7A36-BE8BFACA0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20177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vs XML – Clear Comparison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452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FD4060-64CA-AABF-7C8F-ACF21A857715}"/>
              </a:ext>
            </a:extLst>
          </p:cNvPr>
          <p:cNvGraphicFramePr>
            <a:graphicFrameLocks noGrp="1"/>
          </p:cNvGraphicFramePr>
          <p:nvPr/>
        </p:nvGraphicFramePr>
        <p:xfrm>
          <a:off x="915988" y="2383631"/>
          <a:ext cx="10907712" cy="1828800"/>
        </p:xfrm>
        <a:graphic>
          <a:graphicData uri="http://schemas.openxmlformats.org/drawingml/2006/table">
            <a:tbl>
              <a:tblPr/>
              <a:tblGrid>
                <a:gridCol w="3635904">
                  <a:extLst>
                    <a:ext uri="{9D8B030D-6E8A-4147-A177-3AD203B41FA5}">
                      <a16:colId xmlns:a16="http://schemas.microsoft.com/office/drawing/2014/main" val="391264360"/>
                    </a:ext>
                  </a:extLst>
                </a:gridCol>
                <a:gridCol w="3635904">
                  <a:extLst>
                    <a:ext uri="{9D8B030D-6E8A-4147-A177-3AD203B41FA5}">
                      <a16:colId xmlns:a16="http://schemas.microsoft.com/office/drawing/2014/main" val="4051965870"/>
                    </a:ext>
                  </a:extLst>
                </a:gridCol>
                <a:gridCol w="3635904">
                  <a:extLst>
                    <a:ext uri="{9D8B030D-6E8A-4147-A177-3AD203B41FA5}">
                      <a16:colId xmlns:a16="http://schemas.microsoft.com/office/drawing/2014/main" val="12800611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283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Heavy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131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98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49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{}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&lt;tag&gt;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39534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DD9B60F-0C0F-3767-5ABB-42A6BC5D1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23828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vs XML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009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3D52A-AC95-1E6A-AC21-52FA3C4935FA}"/>
              </a:ext>
            </a:extLst>
          </p:cNvPr>
          <p:cNvSpPr txBox="1"/>
          <p:nvPr/>
        </p:nvSpPr>
        <p:spPr>
          <a:xfrm>
            <a:off x="3048000" y="2967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Realistic Use Case</a:t>
            </a:r>
          </a:p>
          <a:p>
            <a:pPr>
              <a:buNone/>
            </a:pPr>
            <a:r>
              <a:rPr lang="en-US" dirty="0"/>
              <a:t>Banks &amp; government systems still use XML due to strict data structure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434016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DDA3D6-0528-1BE0-55C8-DB82DDE7ACFE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Final Combined Infographic (Client-Server + HTTP Flow + JSON vs XML)</a:t>
            </a:r>
          </a:p>
          <a:p>
            <a:pPr>
              <a:buNone/>
            </a:pPr>
            <a:r>
              <a:rPr lang="en-IN" dirty="0"/>
              <a:t>Below is a single composite image containing:</a:t>
            </a:r>
            <a:br>
              <a:rPr lang="en-IN" dirty="0"/>
            </a:br>
            <a:r>
              <a:rPr lang="en-IN" dirty="0"/>
              <a:t>✔ Client–Server Model</a:t>
            </a:r>
            <a:br>
              <a:rPr lang="en-IN" dirty="0"/>
            </a:br>
            <a:r>
              <a:rPr lang="en-IN" dirty="0"/>
              <a:t>✔ HTTP Request/Response Flow</a:t>
            </a:r>
            <a:br>
              <a:rPr lang="en-IN" dirty="0"/>
            </a:br>
            <a:r>
              <a:rPr lang="en-IN" dirty="0"/>
              <a:t>✔ JSON vs XML comparison</a:t>
            </a:r>
          </a:p>
        </p:txBody>
      </p:sp>
    </p:spTree>
    <p:extLst>
      <p:ext uri="{BB962C8B-B14F-4D97-AF65-F5344CB8AC3E}">
        <p14:creationId xmlns:p14="http://schemas.microsoft.com/office/powerpoint/2010/main" val="3477473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240BD6-7E98-DD15-D81E-4F53005C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78" b="18889"/>
          <a:stretch>
            <a:fillRect/>
          </a:stretch>
        </p:blipFill>
        <p:spPr>
          <a:xfrm>
            <a:off x="685800" y="1219200"/>
            <a:ext cx="102870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3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10E066-700E-6854-2911-184503049E8D}"/>
              </a:ext>
            </a:extLst>
          </p:cNvPr>
          <p:cNvSpPr txBox="1"/>
          <p:nvPr/>
        </p:nvSpPr>
        <p:spPr>
          <a:xfrm>
            <a:off x="4495800" y="3075057"/>
            <a:ext cx="510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THANK YOU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9617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957</TotalTime>
  <Words>1233</Words>
  <Application>Microsoft Office PowerPoint</Application>
  <PresentationFormat>Widescreen</PresentationFormat>
  <Paragraphs>291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Introduction to Web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jinu krishnan</cp:lastModifiedBy>
  <cp:revision>21</cp:revision>
  <dcterms:created xsi:type="dcterms:W3CDTF">2025-06-19T08:37:38Z</dcterms:created>
  <dcterms:modified xsi:type="dcterms:W3CDTF">2025-12-09T05:21:58Z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2025-06-19T00:00:00Z</vt:filetime>
  </property>
  <property fmtid="{D5CDD505-2E9C-101B-9397-08002B2CF9AE}" pid="5" name="Producer">
    <vt:lpwstr>Microsoft® PowerPoint® 2013</vt:lpwstr>
  </property>
</Properties>
</file>